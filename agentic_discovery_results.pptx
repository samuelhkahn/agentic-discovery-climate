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Georgia"/>
              </a:defRPr>
            </a:pPr>
            <a:r>
              <a:t>Agentic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EC4B6"/>
                </a:solidFill>
                <a:latin typeface="Calibri"/>
              </a:defRPr>
            </a:pPr>
            <a:r>
              <a:t>An AI Climate Scientist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60320"/>
            <a:ext cx="1828800" cy="36576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Proof-of-Concept: Hemispheric Symmetry 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999999"/>
                </a:solidFill>
                <a:latin typeface="Calibri"/>
              </a:defRPr>
            </a:pPr>
            <a:r>
              <a:t>Feldman, Gristey, Hakuba, Hellinger, Kahn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B2A4A"/>
                </a:solidFill>
                <a:latin typeface="Georgia"/>
              </a:defRPr>
            </a:pPr>
            <a:r>
              <a:t>Why an AI Climate Scientist?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840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840480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B2A4A"/>
                </a:solidFill>
                <a:latin typeface="Calibri"/>
              </a:defRPr>
            </a:pPr>
            <a:r>
              <a:t>Feldman et al. 2026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Earth's albedo is remarkably stable (~29%)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NH ~ SH despite radically different surfaces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Cloud properties dominate (SHAP analysis)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Used: FFNN, U-Net, Prophet, ExtraTrees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188720"/>
            <a:ext cx="38404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E89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8913A"/>
                </a:solidFill>
                <a:latin typeface="Calibri"/>
              </a:defRPr>
            </a:pPr>
            <a:r>
              <a:t>What Was Missing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No causal inference (only correlational)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No information-theoretic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No spectral / frequency-domain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No dynamical systems or equation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00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No graph / network approaches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EC4B6"/>
                </a:solidFill>
                <a:latin typeface="Calibri"/>
              </a:defRPr>
            </a:pPr>
            <a:r>
              <a:t>Goal: Autonomously discover novel methodologies the research team hadn't considered.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B2A4A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99999"/>
                </a:solidFill>
                <a:latin typeface="Calibri"/>
              </a:defRPr>
            </a:pPr>
            <a:r>
              <a:t>Inspired by Kosmos (Lu et al. 2025) + MCTS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192024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World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Hypotheses, exploration</a:t>
            </a:r>
            <a:br/>
            <a:r>
              <a:t>map, literature, prior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79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8913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371600"/>
            <a:ext cx="192024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MCTS</a:t>
            </a:r>
            <a:br/>
            <a:r>
              <a:t>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UCB1 + hypothesis</a:t>
            </a:r>
            <a:br/>
            <a:r>
              <a:t>balance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8913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71600"/>
            <a:ext cx="192024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  <a:br/>
            <a:r>
              <a:t>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Novel script + execution</a:t>
            </a:r>
            <a:br/>
            <a:r>
              <a:t>on CERES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E8913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371600"/>
            <a:ext cx="1920240" cy="118872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4173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Synthesis &amp;</a:t>
            </a:r>
            <a:br/>
            <a:r>
              <a:t>Convergence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202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CCCCCC"/>
                </a:solidFill>
                <a:latin typeface="Calibri"/>
              </a:defRPr>
            </a:pPr>
            <a:r>
              <a:t>Update beliefs, check</a:t>
            </a:r>
            <a:br/>
            <a:r>
              <a:t>multi-method convergence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2EC4B6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2EC4B6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Analyses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2EC4B6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Novel Methods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3291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2EC4B6"/>
                </a:solidFill>
                <a:latin typeface="Georgia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59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99999"/>
                </a:solidFill>
                <a:latin typeface="Calibri"/>
              </a:defRPr>
            </a:pPr>
            <a:r>
              <a:t>Adversarial</a:t>
            </a:r>
            <a:br/>
            <a:r>
              <a:t>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B2A4A"/>
                </a:solidFill>
                <a:latin typeface="Georgia"/>
              </a:defRPr>
            </a:pPr>
            <a:r>
              <a:t>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01168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B2A4A"/>
                </a:solidFill>
                <a:latin typeface="Georgia"/>
              </a:defRPr>
            </a:pPr>
            <a:r>
              <a:t>CERES EBAF-TOA Edition 4.2.1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999999"/>
                </a:solidFill>
                <a:latin typeface="Calibri"/>
              </a:defRPr>
            </a:pPr>
            <a:r>
              <a:t>NASA's Clouds and Earth's Radiant Energy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Coverage: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688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March 2000 - March 2025 (301 months)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Resolution: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1 x 1 latitude-longitude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Records: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14.3 million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Filtering: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Terminator filter (|lat| &lt; 66)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Key variables used across analyses: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011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TOA shortwave albedo, cloud area fraction (CAF), cloud optical depth (tau), TOA SW/LW fluxes (clear-sky and all-sky), solar irradiance, latitude, longitude, month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B2A4A"/>
                </a:solidFill>
                <a:latin typeface="Georgia"/>
              </a:defRPr>
            </a:pPr>
            <a:r>
              <a:t>8 Novel Methodologies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99999"/>
                </a:solidFill>
                <a:latin typeface="Calibri"/>
              </a:defRPr>
            </a:pPr>
            <a:r>
              <a:t>None used in the original Nature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383280" cy="2743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Convergent Cross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508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647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Transfer Entropy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76479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208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Attractor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020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Granger Causality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2768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5328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Climate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53288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8892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Variance Decomposition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788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4495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Symbolic Regression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0449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0098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Wavelet Coherence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3009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EC4B6"/>
                </a:solidFill>
                <a:latin typeface="Calibri"/>
              </a:defRPr>
            </a:pPr>
            <a:r>
              <a:t>H004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118872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1188720"/>
            <a:ext cx="3657600" cy="54864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12801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  <a:latin typeface="Calibri"/>
              </a:defRPr>
            </a:pPr>
            <a:r>
              <a:t>H001   Cloud Buffering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6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Earth's globally-averaged albedo maintains its stability and symmetry through cl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210312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2103120"/>
            <a:ext cx="3657600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194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  <a:latin typeface="Calibri"/>
              </a:defRPr>
            </a:pPr>
            <a:r>
              <a:t>H002   Invariant Earth System Properties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5146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Earth's TOA albedo stability and hemispheric symmetry result from properties of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0" y="301752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0" y="3017520"/>
            <a:ext cx="3657600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3108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  <a:latin typeface="Calibri"/>
              </a:defRPr>
            </a:pPr>
            <a:r>
              <a:t>H003   Teleconnections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3429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Hemispheric albedo symmetry is maintained by spatial teleconnections — cross-reg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3931920"/>
            <a:ext cx="36576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3931920"/>
            <a:ext cx="3657600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4023359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2A4A"/>
                </a:solidFill>
                <a:latin typeface="Calibri"/>
              </a:defRPr>
            </a:pPr>
            <a:r>
              <a:t>H004   Coupled Low-Dimensional Hemispheric Oscillator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60" y="43434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Earth's global TOA albedo stability arises from a coupled low-dimensional dynami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B2A4A"/>
                </a:solidFill>
                <a:latin typeface="Georgia"/>
              </a:defRPr>
            </a:pPr>
            <a:r>
              <a:t>Discovery 1: Teleconnections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0" y="274320"/>
            <a:ext cx="201168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SUPPORTED  0.88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B2A4A"/>
                </a:solidFill>
                <a:latin typeface="Calibri"/>
              </a:defRPr>
            </a:pPr>
            <a:r>
              <a:t>1 independent methods confirm: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Transfer Entropy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Transfer entropy reveals significant cross-hemispheric information flow supporting H003. Crucially, the flow is ASYMMETR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B2A4A"/>
                </a:solidFill>
                <a:latin typeface="Georgia"/>
              </a:defRPr>
            </a:pPr>
            <a:r>
              <a:t>Discovery 2: Cloud Buffering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0" y="274320"/>
            <a:ext cx="2011680" cy="32004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TESTING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B2A4A"/>
                </a:solidFill>
                <a:latin typeface="Calibri"/>
              </a:defRPr>
            </a:pPr>
            <a:r>
              <a:t>3 independent methods confirm: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Convergent Cross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CCM (convergent cross mapping) reveals unidirectional causal link: cloud area fraction causally drives TOA albedo (p=0.0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Climate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Cloud-albedo climate network (10° grid, 504 cells, 301 months): 99.2% of grid cells show significant positive cloud-albe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Wavelet Coherence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Wavelet coherence between cloud area and albedo is very high across all frequency bands (global mean=0.914), with in-pha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B2A4A"/>
                </a:solidFill>
                <a:latin typeface="Georgia"/>
              </a:defRPr>
            </a:pPr>
            <a:r>
              <a:t>Discovery 3: Coupled Low-Dimensional Hemispheric Oscillator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0" y="274320"/>
            <a:ext cx="201168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SUPPORTED  0.74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B2A4A"/>
                </a:solidFill>
                <a:latin typeface="Calibri"/>
              </a:defRPr>
            </a:pPr>
            <a:r>
              <a:t>5 independent methods confirm: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Granger Causality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Granger causality directly tests H004 prediction P002: SH→NH causality is confirmed at lag=5 months (p&lt;0.0001), and NH→S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Climate Networks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Climate network topology partially refines H004 (coupled hemispheric oscillator): the cross-hemispheric coupling is conc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Convergent Cross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CCM supports H004 (coupled hemispheric oscillator): bidirectional causal manifold coupling where SH's manifold contains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Wavelet Coherence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Cross-finding from wavelet coherence: the phase reversal (NH leads at 6-12 months, SH leads at 24-60 months) is a key pr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Symbolic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VAR(6) model analysis of NH+SH coupled system for H004: NH→SH coupling is consistently stronger than SH→NH at ALL lag 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B2A4A"/>
                </a:solidFill>
                <a:latin typeface="Georgia"/>
              </a:defRPr>
            </a:pPr>
            <a:r>
              <a:t>Discovery 4: Invariant Earth System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0" y="274320"/>
            <a:ext cx="201168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SUPPORTED  0.54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B2A4A"/>
                </a:solidFill>
                <a:latin typeface="Calibri"/>
              </a:defRPr>
            </a:pPr>
            <a:r>
              <a:t>5 independent methods confirm: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Attractor Reconstruction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727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Attractor reconstruction reveals global albedo lives on a VERY LOW-DIMENSIONAL manifold: correlation dimension 1.86 (ess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Attractor Reconstruction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Cross-finding from A021: global albedo correlation dimension (1.74) is lower than joint NH+SH dimension (2.56). Global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3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Symbolic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Symbolic regression (polynomial/linear search) on monthly global mean albedo (301 months): linear 6-predictor model achi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88035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Climate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8152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Climate network stability analysis for H002: global mean albedo 2000-2012 = 0.2996, 2013-2025 = 0.2965, change = -0.0031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79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Attractor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84447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999"/>
                </a:solidFill>
                <a:latin typeface="Calibri"/>
              </a:defRPr>
            </a:pPr>
            <a:r>
              <a:t>Cross-finding: albedo correlation dimension (1.74) is lower than both cloud area (2.17) and cloud tau (2.14). Global alb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The Unified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7772400" cy="100584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Layer 1: Invariant Earth System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Earth's TOA albedo stability and hemispheric symmetry result from properties of the Earth system at the surface and in 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331720"/>
            <a:ext cx="7498079" cy="100584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Layer 2: Teleconnections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23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CCCCCC"/>
                </a:solidFill>
                <a:latin typeface="Calibri"/>
              </a:defRPr>
            </a:pPr>
            <a:r>
              <a:t>Hemispheric albedo symmetry is maintained by spatial teleconnections — cross-regional and cross-hemispheric correlations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3474720"/>
            <a:ext cx="7223760" cy="1005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B2A4A"/>
                </a:solidFill>
                <a:latin typeface="Calibri"/>
              </a:defRPr>
            </a:pPr>
            <a:r>
              <a:t>Layer 3: Coupled Low-Dimensional Hemispheric Oscillator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5661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B2A4A"/>
                </a:solidFill>
                <a:latin typeface="Calibri"/>
              </a:defRPr>
            </a:pPr>
            <a:r>
              <a:t>Earth's global TOA albedo stability arises from a coupled low-dimensional dynamical system: the NH and SH albedo anomaly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1">
                <a:solidFill>
                  <a:srgbClr val="2EC4B6"/>
                </a:solidFill>
                <a:latin typeface="Calibri"/>
              </a:defRPr>
            </a:pPr>
            <a:r>
              <a:t>Earth's albedo stays near 29% because physics sets the envelope, clouds actively buffer within it, and ENSO keeps the hemispheres synchronized.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B2A4A"/>
                </a:solidFill>
                <a:latin typeface="Georgia"/>
              </a:defRPr>
            </a:pPr>
            <a:r>
              <a:t>Key Takeaways &amp; Open 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Hypothesis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0241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2412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24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H001 Cloud Buffering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99999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0.80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5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737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H002 Invariant Earth System Properties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0.54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5 methods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H003 Teleconnections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0.88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057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5 methods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2A4A"/>
                </a:solidFill>
                <a:latin typeface="Calibri"/>
              </a:defRPr>
            </a:pPr>
            <a:r>
              <a:t>H004 Coupled Low-Dimensional Hemispheric Oscillator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C4B6"/>
                </a:solidFill>
                <a:latin typeface="Calibri"/>
              </a:defRPr>
            </a:pPr>
            <a:r>
              <a:t>CONVERGED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377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0.74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6 methods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063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B2A4A"/>
                </a:solidFill>
                <a:latin typeface="Georgia"/>
              </a:defRPr>
            </a:pPr>
            <a:r>
              <a:t>Open Questions for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Can the ~2D attractor be attributed to specific physical invariants?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What circulation mechanisms transmit SH-&gt;NH coupling at 3-month lag?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Will cloud buffering persist under strong anthropogenic forcing?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B2A4A"/>
                </a:solidFill>
                <a:latin typeface="Calibri"/>
              </a:defRPr>
            </a:pPr>
            <a:r>
              <a:t>  How does this AI scientist methodology generalize to other Earth system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FFFFF"/>
                </a:solidFill>
                <a:latin typeface="Georgia"/>
              </a:defRPr>
            </a:pPr>
            <a: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2EC4B6"/>
                </a:solidFill>
                <a:latin typeface="Calibri"/>
              </a:defRPr>
            </a:pPr>
            <a:r>
              <a:t>Methodology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99999"/>
                </a:solidFill>
                <a:latin typeface="Calibri"/>
              </a:defRPr>
            </a:pPr>
            <a:r>
              <a:t>One slide per method — how it works, what it tests, key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