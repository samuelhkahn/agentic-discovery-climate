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Why Is Earth's Albedo So Stable?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E86C1"/>
                </a:solidFill>
              </a:rPr>
              <a:t>An AI Scientist's Exploration of 25 Years of Satellite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3291840"/>
            <a:ext cx="6702552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BC6E0"/>
                </a:solidFill>
              </a:rPr>
              <a:t>CERES EBAF-TOA Ed4.2.1  ·  March 2000 – March 2025  ·  14.3M observations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7763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BC6E0"/>
                </a:solidFill>
              </a:rPr>
              <a:t>28 analyses  ·  12 causal inference methods  ·  4 hypotheses tested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2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F9BB8"/>
                </a:solidFill>
              </a:rPr>
              <a:t>Samuel Kahn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Puzzle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30352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A4A"/>
                </a:solidFill>
              </a:rPr>
              <a:t>Earth reflects ~29–30% of incoming sunlight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</a:rPr>
              <a:t>This fraction — the albedo — has stayed near 29–30% for at least 25 years, despite: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>
                <a:solidFill>
                  <a:srgbClr val="2C3E50"/>
                </a:solidFill>
              </a:rPr>
              <a:t>• Constant weather noise and cloud variability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2C3E50"/>
                </a:solidFill>
              </a:rPr>
              <a:t>• Decade-scale shifts in Arctic sea ice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2C3E50"/>
                </a:solidFill>
              </a:rPr>
              <a:t>• Aerosol loading from industry and volcanoes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2C3E50"/>
                </a:solidFill>
              </a:rPr>
              <a:t>• Land use change and deforestation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2C3E50"/>
                </a:solidFill>
              </a:rPr>
              <a:t>• Interannual ENSO swings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557784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344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A4A"/>
                </a:solidFill>
              </a:rPr>
              <a:t>Why does stability matter?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>
                <a:solidFill>
                  <a:srgbClr val="2C3E50"/>
                </a:solidFill>
              </a:rPr>
              <a:t>• A 1% drop in albedo = ~3.4 W/m² forcing — comparable to doubling CO₂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2C3E50"/>
                </a:solidFill>
              </a:rPr>
              <a:t>• Stability implies active regulation, not just luck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2C3E50"/>
                </a:solidFill>
              </a:rPr>
              <a:t>• If the regulation breaks, Earth's energy balance shifts permanently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2C3E50"/>
                </a:solidFill>
              </a:rPr>
              <a:t>• Understanding the mechanism is key to predicting tipping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93776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C1"/>
                </a:solidFill>
              </a:rPr>
              <a:t>This research asked: what mechanism stabilizes albedo, and how?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Approach: AI Scientist on Satellite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3657600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36576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3429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CERES EBAF-TOA Ed4.2.1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March 2000 – March 2025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14.3 million observations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Monthly gridded TOA fluxes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Cloud area, optical depth, albedo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1° × 1° spatial resolution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051560"/>
            <a:ext cx="3657600" cy="502920"/>
          </a:xfrm>
          <a:prstGeom prst="rect">
            <a:avLst/>
          </a:prstGeom>
          <a:solidFill>
            <a:srgbClr val="17A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0972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Methods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554480"/>
            <a:ext cx="36576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645920"/>
            <a:ext cx="3429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Convergent Cross Mapping (CCM)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Transfer Entropy (TE)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Granger Causality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Wavelet Coherence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Climate Networks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Attractor Reconstruction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VAR / Symbolic Regression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Variance Decomposition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051560"/>
            <a:ext cx="3657600" cy="502920"/>
          </a:xfrm>
          <a:prstGeom prst="rect">
            <a:avLst/>
          </a:prstGeom>
          <a:solidFill>
            <a:srgbClr val="6C3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0972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Hypotheses Tested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554480"/>
            <a:ext cx="36576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645920"/>
            <a:ext cx="3429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H001: Clouds buffer albedo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H002: Physical constants constrain ~29%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H003: Hemispheres teleconnect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H004: Coupled hemispheric oscillator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Converged = 5+ independent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methods confirming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7A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Finding 1: Clouds Are the Real-Time Albedo Control Knob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F5EC"/>
                </a:solidFill>
              </a:rPr>
              <a:t>H001 — Cloud Buffering  ·  CONVERGED (5/5 methods)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7772400" cy="685800"/>
          </a:xfrm>
          <a:prstGeom prst="rect">
            <a:avLst/>
          </a:prstGeom>
          <a:solidFill>
            <a:srgbClr val="D1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7589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C3E50"/>
                </a:solidFill>
              </a:rPr>
              <a:t>Hypothesis: Cloud area fraction causally drives TOA albedo — not the reverse. More clouds → more reflected sunlight, synchronously.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0" y="1005840"/>
            <a:ext cx="3383280" cy="1554480"/>
          </a:xfrm>
          <a:prstGeom prst="rect">
            <a:avLst/>
          </a:prstGeom>
          <a:solidFill>
            <a:srgbClr val="17A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05156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r = 0.79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16459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Cloud area ↔ Albedo
(same month, 99% of grid cells)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28800"/>
            <a:ext cx="11430000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7451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87451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Key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187451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Direction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240280"/>
            <a:ext cx="11430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28600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Convergent Cross Mapping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286000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Cloud→albedo converges (p=0.001, ρ→0.48); albedo→cloud does NOT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28600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8B4C"/>
                </a:solidFill>
              </a:rPr>
              <a:t>Cloud → Albedo 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990088"/>
            <a:ext cx="11430000" cy="713232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035808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Granger Causality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035808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Cloud→albedo p&lt;0.0001; albedo→cloud p=0.66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035808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8B4C"/>
                </a:solidFill>
              </a:rPr>
              <a:t>Unidirectional 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739896"/>
            <a:ext cx="11430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785615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Climate Networks (spatial)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3785615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99.2% of grid cells: positive cloud-albedo coupling, mean r=0.79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3785615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8B4C"/>
                </a:solidFill>
              </a:rPr>
              <a:t>Synchronous 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489704"/>
            <a:ext cx="11430000" cy="713232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535424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Attractor Reconstruction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4535424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Joint cloud+albedo dim=2.38 vs 3.91 expected (39% reduction)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4535424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8B4C"/>
                </a:solidFill>
              </a:rPr>
              <a:t>Shared manifold 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239512"/>
            <a:ext cx="11430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285232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Wavelet Coherence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5285232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Coherence=0.91 across all timescales; in-phase at seasonal &amp; annual bands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5285232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8B4C"/>
                </a:solidFill>
              </a:rPr>
              <a:t>In-phase 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Finding 2: Albedo Lives on a Low-Dimensional Attractor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0D5"/>
                </a:solidFill>
              </a:rPr>
              <a:t>H002 — Invariant Properties  ·  CONVERGED (5/5 methods)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7772400" cy="685800"/>
          </a:xfrm>
          <a:prstGeom prst="rect">
            <a:avLst/>
          </a:prstGeom>
          <a:solidFill>
            <a:srgbClr val="FDF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7589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C3E50"/>
                </a:solidFill>
              </a:rPr>
              <a:t>Hypothesis: Physical constants constrain global mean albedo near ~29%. The system has fewer effective degrees of freedom than its number of variables implies.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0" y="1005840"/>
            <a:ext cx="3383280" cy="1554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05156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dim = 1.86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16459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Correlation dimension
of global albedo attractor
(surrogate: 2.32 ± 0.04)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28800"/>
            <a:ext cx="548640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920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7E22"/>
                </a:solidFill>
              </a:rPr>
              <a:t>Supporting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7744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Global mean albedo stable at 29.7–30.0% across 25 years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Attractor dimension=1.86, below shuffled surrogates (2.32)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Albedo manifold dimension (1.74) &lt; cloud dimension (2.17) — albedo is MORE constrained than clouds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Symbolic regression: R²=0.94 with only 5 variables (polynomial degree-2)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Network hub stability r=0.554 across 2000–2012 vs 2013–2025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Negative self-feedback coefficient in SINDy — perturbations decay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557784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920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7E22"/>
                </a:solidFill>
              </a:rPr>
              <a:t>Open 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37744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Mean albedo did shift: 29.96% (2000–2012) → 29.65% (2013–2025), p=0.003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This ~0.3% drop may reflect Arctic brightening reduction or cloud feedback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Is this within the 'invariant' envelope, or early evidence of destabilization?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Low dimensionality is confirmed; whether physical constants are the cause is harder to attribute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Longer records (MERRA-2, 1980–present) needed to resolve trend vs noise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Finding 3: ENSO Coordinates Hemispheric Albedo via the Tropical Pacific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D5D5"/>
                </a:solidFill>
              </a:rPr>
              <a:t>H003 — Teleconnections  ·  CONVERGED (5/5 methods)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68580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C3E50"/>
                </a:solidFill>
              </a:rPr>
              <a:t>NH and SH albedo anomalies causally influence each other through the tropical Pacific (5°S–5°N). During La Niña, SH anomalies propagate to the NH at ~3–6 month lag via Walker/Hadley circulation changes.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685800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92024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</a:rPr>
              <a:t>5 Independent Confirmations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7744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</a:rPr>
              <a:t>• Transfer Entropy: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5176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  SH→NH TE=0.274, z=6.92 at 3–6 month lags. Survives 2000 permutations.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20040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</a:rPr>
              <a:t>• Wavelet Coherence: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47472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  Coupling strongest at ENSO band (24–60 months, coherence=0.985). SH leads NH by ~4 months.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02336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</a:rPr>
              <a:t>• ENSO-conditional TE: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29768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  La Niña activates SH→NH (TE=0.33, p=0.017). El Niño: not significant. Bootstrap CI excludes zero.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84632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</a:rPr>
              <a:t>• Climate Networks: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12064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  161 cross-hemispheric edges (Bonferroni-corrected). ALL top hub nodes in tropical Pacific (5°S–5°N).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66928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</a:rPr>
              <a:t>• Granger + CCM: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94360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  Bidirectional NH↔SH Granger (p&lt;0.0001 both directions). CCM convergence confirmed.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79" y="1828800"/>
            <a:ext cx="4297680" cy="47548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35240" y="1920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Mechanism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2423160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DD8E6"/>
                </a:solidFill>
              </a:rPr>
              <a:t>Southern Hemisphere
albedo anomaly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0" y="3108960"/>
            <a:ext cx="182880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5240" y="315468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BC6E0"/>
                </a:solidFill>
              </a:rPr>
              <a:t>↓  3–6 months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35240" y="3520440"/>
            <a:ext cx="4023360" cy="1005840"/>
          </a:xfrm>
          <a:prstGeom prst="rect">
            <a:avLst/>
          </a:prstGeom>
          <a:solidFill>
            <a:srgbClr val="1B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26679" y="356616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7E22"/>
                </a:solidFill>
              </a:rPr>
              <a:t>Tropical Pacific
(5°S–5°N, 105–195°E)
Hadley/Walker modulation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461772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BC6E0"/>
                </a:solidFill>
              </a:rPr>
              <a:t>↓  signal propagates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5029200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DD8E6"/>
                </a:solidFill>
              </a:rPr>
              <a:t>Northern Hemisphere
albedo adjusted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571500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8B4C"/>
                </a:solidFill>
              </a:rPr>
              <a:t>→ Hemispheric symmetry maintained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6C3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Finding 4: NH+SH Form a Coupled Low-Dimensional Oscillator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7BBF5"/>
                </a:solidFill>
              </a:rPr>
              <a:t>H004 — Coupled Hemispheric Oscillator  ·  CONVERGED (6/6 methods)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2651760" cy="1280160"/>
          </a:xfrm>
          <a:prstGeom prst="rect">
            <a:avLst/>
          </a:prstGeom>
          <a:solidFill>
            <a:srgbClr val="6C3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2.56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Joint NH+SH
attractor dim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005840"/>
            <a:ext cx="2651760" cy="12801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05156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4.13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6916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Expected if
independent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005840"/>
            <a:ext cx="2651760" cy="128016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05156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38%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6916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Dimensionality
reduction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18320" y="1005840"/>
            <a:ext cx="2651760" cy="12801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0" y="105156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1.75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16916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VAR simulation
reproduces dim≈1.86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423160"/>
            <a:ext cx="548640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514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C3B9B"/>
                </a:solidFill>
              </a:rPr>
              <a:t>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971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Joint NH+SH attractor dim=2.56 vs 4.13 if independent (38% reduction)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Mutual information p&lt;0.0001 confirms shared dynamics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PCA: first component explains 47.5% of joint variance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VAR(6) simulation reproduces observed correlation dimension (1.75 ≈ 1.86)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CCM: bidirectional NH↔SH convergence confirmed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Granger: bidirectional p&lt;0.0001 with asymmetric lags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423160"/>
            <a:ext cx="557784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25146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3B9B"/>
                </a:solidFill>
              </a:rPr>
              <a:t>Frequency-Dependent Directionality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017520"/>
            <a:ext cx="5303520" cy="105156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06323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3B9B"/>
                </a:solidFill>
              </a:rPr>
              <a:t>Fast mode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42900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6–12 months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30632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</a:rPr>
              <a:t>NH leads 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34290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Annual cloud cycle propagates south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4160520"/>
            <a:ext cx="53035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206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3B9B"/>
                </a:solidFill>
              </a:rPr>
              <a:t>Slow mode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57200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2–5 years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206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</a:rPr>
              <a:t>SH leads NH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5720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ENSO-driven; SH ocean heat capacity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5303520"/>
            <a:ext cx="5303520" cy="105156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5349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3B9B"/>
                </a:solidFill>
              </a:rPr>
              <a:t>Implication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71500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All bands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5349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</a:rPr>
              <a:t>Coupled system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57150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Not two independent hemispheres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Unified Picture: A Self-Regulating Planetary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0" y="1097280"/>
            <a:ext cx="4480560" cy="9144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31920" y="1133856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Earth's Geometry + Solar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444752"/>
            <a:ext cx="4297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Sets the ~29% mean constraint
(H002 — physical envelope)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2560320"/>
            <a:ext cx="4480560" cy="914400"/>
          </a:xfrm>
          <a:prstGeom prst="rect">
            <a:avLst/>
          </a:prstGeom>
          <a:solidFill>
            <a:srgbClr val="17A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0" y="2596896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Cloud Fields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907791"/>
            <a:ext cx="4297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Causally drive albedo in real-time
r=0.79, in-phase, unidirectional
(H001 — the control knob)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4114800"/>
            <a:ext cx="4480560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4151376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Tropical Pacific / ENSO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4462272"/>
            <a:ext cx="4297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Coordinates cloud fields across hemispheres
SH→NH at La Niña; hub at 5°S–5°N
(H003 — the communicator)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5577840"/>
            <a:ext cx="4480560" cy="914400"/>
          </a:xfrm>
          <a:prstGeom prst="rect">
            <a:avLst/>
          </a:prstGeom>
          <a:solidFill>
            <a:srgbClr val="6C3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0" y="5614416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NH + SH Coupled Oscillator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5925312"/>
            <a:ext cx="4297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Operates as a single 2.56-dim system
Frequency-dependent leadership
(H004 — the dynamics)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0" y="2011680"/>
            <a:ext cx="457200" cy="1828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97880" y="19659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B2A4A"/>
                </a:solidFill>
              </a:rPr>
              <a:t>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0" y="3474720"/>
            <a:ext cx="457200" cy="1828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80" y="34290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B2A4A"/>
                </a:solidFill>
              </a:rPr>
              <a:t>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0" y="5029200"/>
            <a:ext cx="457200" cy="1828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97880" y="49834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B2A4A"/>
                </a:solidFill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1097280"/>
            <a:ext cx="3291840" cy="5669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1188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</a:rPr>
              <a:t>Key Insight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1645920"/>
            <a:ext cx="3108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The three hypotheses are not competing explanations — they are nested layers of the same regulatory system:
Geometry sets the envelope.
Clouds actively maintain albedo within that envelope.
ENSO coordinates clouds across the equator so both hemispheres stay in balance.
The whole system is low-dimensional — like a thermostat, not random noise.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95360" y="1097280"/>
            <a:ext cx="3291840" cy="5669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32520" y="1188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</a:rPr>
              <a:t>What's New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1645920"/>
            <a:ext cx="3108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</a:rPr>
              <a:t>• Causal direction confirmed: clouds drive albedo, not reverse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</a:rPr>
              <a:t>• ENSO-conditioning reveals La Niña as the active switch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</a:rPr>
              <a:t>• Tropical Pacific named as the spatial hub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</a:rPr>
              <a:t>• System modeled as a coupled 2D oscillator with frequency-dependent phase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</a:rPr>
              <a:t>• Albedo more constrained than clouds (dim 1.74 &lt; 2.17)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</a:rPr>
              <a:t>• All findings robust across 5+ independent methods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Methods: 12 Independent Causal Inference Techniques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005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005840"/>
            <a:ext cx="1463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Strength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59" y="10058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Key finding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1143000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53896"/>
            <a:ext cx="2377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</a:rPr>
              <a:t>Convergent Cross Mapping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453896"/>
            <a:ext cx="18288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Nonlinear causality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1453896"/>
            <a:ext cx="1463039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★★★★★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59" y="1453896"/>
            <a:ext cx="49377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Unidirectional cloud→albedo causality confirmed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865376"/>
            <a:ext cx="11430000" cy="429768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901952"/>
            <a:ext cx="2377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</a:rPr>
              <a:t>Transfer Entropy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1901952"/>
            <a:ext cx="18288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Info-theoretic causality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1901952"/>
            <a:ext cx="1463039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★★★★★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59" y="1901952"/>
            <a:ext cx="49377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SH→NH z=6.92 at 3–6 month lags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313432"/>
            <a:ext cx="1143000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350008"/>
            <a:ext cx="2377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</a:rPr>
              <a:t>Wavelet Coherence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2350008"/>
            <a:ext cx="18288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Frequency-domain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350008"/>
            <a:ext cx="1463039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★★★★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59" y="2350008"/>
            <a:ext cx="49377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ENSO-band coupling 0.985; phase switching by timescale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761488"/>
            <a:ext cx="11430000" cy="429768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798064"/>
            <a:ext cx="2377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</a:rPr>
              <a:t>Granger Causality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2798064"/>
            <a:ext cx="18288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Linear predictability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2798064"/>
            <a:ext cx="1463039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★★★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59" y="2798064"/>
            <a:ext cx="49377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Cloud→albedo p&lt;0.0001; bidirectional NH↔SH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209544"/>
            <a:ext cx="1143000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246120"/>
            <a:ext cx="2377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</a:rPr>
              <a:t>Climate Networks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3246120"/>
            <a:ext cx="18288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Spatial topology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3246120"/>
            <a:ext cx="1463039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★★★★★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59" y="3246120"/>
            <a:ext cx="49377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Tropical Pacific as hemispheric communication hub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657600"/>
            <a:ext cx="11430000" cy="429768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3694176"/>
            <a:ext cx="2377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</a:rPr>
              <a:t>Attractor Reconstruction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3694176"/>
            <a:ext cx="18288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Dynamical systems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3694176"/>
            <a:ext cx="1463039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★★★★★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59" y="3694176"/>
            <a:ext cx="49377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Global dim=1.86; joint NH+SH dim=2.56 (38% reduction)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105656"/>
            <a:ext cx="1143000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4142232"/>
            <a:ext cx="2377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</a:rPr>
              <a:t>VAR / Symbolic Regression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17520" y="4142232"/>
            <a:ext cx="18288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Model fitting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0" y="4142232"/>
            <a:ext cx="1463039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★★★★★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59" y="4142232"/>
            <a:ext cx="49377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2-equation model reproduces observed dim=1.75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4553712"/>
            <a:ext cx="11430000" cy="429768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4590288"/>
            <a:ext cx="2377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</a:rPr>
              <a:t>Variance Decomposition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17520" y="4590288"/>
            <a:ext cx="18288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Statistical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20640" y="4590288"/>
            <a:ext cx="1463039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★★★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66559" y="4590288"/>
            <a:ext cx="49377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Clouds explain 44% of albedo variance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5001768"/>
            <a:ext cx="1143000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5038344"/>
            <a:ext cx="2377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</a:rPr>
              <a:t>ICA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017520" y="5038344"/>
            <a:ext cx="18288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Blind source separation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20640" y="5038344"/>
            <a:ext cx="1463039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★★★★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66559" y="5038344"/>
            <a:ext cx="49377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4/6 components load on both hemispheres simultaneously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449824"/>
            <a:ext cx="11430000" cy="429768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5486400"/>
            <a:ext cx="2377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</a:rPr>
              <a:t>Regime Switching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017520" y="5486400"/>
            <a:ext cx="18288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Nonstationary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20640" y="5486400"/>
            <a:ext cx="1463039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★★★★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59" y="5486400"/>
            <a:ext cx="49377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Cloud-albedo slope never reverses in 241/241 windows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5897880"/>
            <a:ext cx="1143000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5934456"/>
            <a:ext cx="2377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</a:rPr>
              <a:t>SINDy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017520" y="5934456"/>
            <a:ext cx="18288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Equation discovery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120640" y="5934456"/>
            <a:ext cx="1463039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★★★★★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766559" y="5934456"/>
            <a:ext cx="49377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Negative self-feedback — perturbations decay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6345936"/>
            <a:ext cx="11430000" cy="429768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6382512"/>
            <a:ext cx="23774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</a:rPr>
              <a:t>ENSO-conditional TE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017520" y="6382512"/>
            <a:ext cx="18288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Conditional causality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120640" y="6382512"/>
            <a:ext cx="1463039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★★★★★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66559" y="6382512"/>
            <a:ext cx="49377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La Niña activates SH→NH; El Niño does not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Limitations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539496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0392B"/>
                </a:solidFill>
              </a:rPr>
              <a:t>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EBAF-TOA only: cloud microphysics (LWP, IWP, particle size) and AOD unavailable — full CERES SYN1deg needed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N=301 monthly means is marginal for attractor reconstruction and CCM; longer records improve confidence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No pre-2000 data: Pinatubo (1991) falsification test (paper's proposed test) not possible with CERES alone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Analyses use aggregated hemisphere/global means — spatial CCM at grid-cell level remains undone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Albedo mean shift 2000–2012 → 2013–2025 (−0.003, p=0.003) is unexplained — trend or noise?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051560"/>
            <a:ext cx="566928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1430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8B4C"/>
                </a:solidFill>
              </a:rPr>
              <a:t>Recommended 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6459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8B4C"/>
                </a:solidFill>
              </a:rPr>
              <a:t>1. MERRA-2 + Pinatubo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947672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Use 1980–present reanalysis to test albedo response/relaxation after 1991 eruption — the paper's proposed falsification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57860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8B4C"/>
                </a:solidFill>
              </a:rPr>
              <a:t>2. Full CERES SYN1deg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88036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Re-run CCM with LWP, IWP, AOD as causal variables. Map WHERE cloud→albedo causality is strongest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51129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8B4C"/>
                </a:solidFill>
              </a:rPr>
              <a:t>3. Spatial CCM at grid level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3813048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Run convergent cross mapping per grid cell — expect strongest signal in marine stratocumulus regions (SE Pacific, SE Atlantic)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44398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8B4C"/>
                </a:solidFill>
              </a:rPr>
              <a:t>4. Resolve the trend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4745736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Test whether the 2013–2025 albedo dimming (−0.003) is Arctic sea ice loss, aerosol changes, or low-frequency ENSO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537667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8B4C"/>
                </a:solidFill>
              </a:rPr>
              <a:t>5. Write up and publish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678424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H003 (ENSO-mediated teleconnection) and H001 (nonlinear unidirectional causality) are novel publishable findings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2743200" cy="1828800"/>
          </a:xfrm>
          <a:prstGeom prst="rect">
            <a:avLst/>
          </a:prstGeom>
          <a:solidFill>
            <a:srgbClr val="17A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2560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H001
Cloud Buffering
✓ CONVERGED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880360"/>
            <a:ext cx="2743200" cy="3520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971800"/>
            <a:ext cx="25603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FF0"/>
                </a:solidFill>
              </a:rPr>
              <a:t>Clouds causally drive albedo in real-time (same month, r=0.79). Unidirectional — confirmed by CCM, Granger, climate networks, attractor reconstruction, and wavelet coherence.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005840"/>
            <a:ext cx="2743200" cy="1828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051560"/>
            <a:ext cx="2560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H002
Invariant Properties
✓ CONVERGED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2880360"/>
            <a:ext cx="2743200" cy="3520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2971800"/>
            <a:ext cx="25603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FF0"/>
                </a:solidFill>
              </a:rPr>
              <a:t>Albedo lives on a low-dimensional attractor (dim=1.86). Albedo is more constrained than clouds (1.74 &lt; 2.17). Mean near 29% with a small but significant recent drift.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005840"/>
            <a:ext cx="2743200" cy="1828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051560"/>
            <a:ext cx="2560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H003
Teleconnections
✓ CONVERGED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880360"/>
            <a:ext cx="2743200" cy="3520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971800"/>
            <a:ext cx="25603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FF0"/>
                </a:solidFill>
              </a:rPr>
              <a:t>NH and SH albedo are causally coupled via the tropical Pacific. La Niña activates SH→NH signal propagation. 5/5 methods confirm.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0" y="1005840"/>
            <a:ext cx="2743200" cy="1828800"/>
          </a:xfrm>
          <a:prstGeom prst="rect">
            <a:avLst/>
          </a:prstGeom>
          <a:solidFill>
            <a:srgbClr val="6C3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051560"/>
            <a:ext cx="2560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H004
Coupled Oscillator
✓ CONVERGED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2880360"/>
            <a:ext cx="2743200" cy="3520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2971800"/>
            <a:ext cx="25603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FF0"/>
                </a:solidFill>
              </a:rPr>
              <a:t>NH+SH form a coupled dynamical system (joint dim=2.56 vs 4.13 expected). NH leads at fast timescales; SH leads at ENSO timescales. Reproduced by simple VAR model.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6446520"/>
            <a:ext cx="11612880" cy="914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53796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BC6E0"/>
                </a:solidFill>
              </a:rPr>
              <a:t>28 analyses  ·  12 methods  ·  25 years of satellite data  ·  4/4 hypotheses converged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